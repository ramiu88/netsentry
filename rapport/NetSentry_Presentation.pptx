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8" r:id="rId29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" cy="685800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5400000">
            <a:off x="8351215" y="3931920"/>
            <a:ext cx="3840480" cy="2926080"/>
          </a:xfrm>
          <a:prstGeom prst="rtTriangle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venp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48640"/>
            <a:ext cx="2506477" cy="822960"/>
          </a:xfrm>
          <a:prstGeom prst="rect">
            <a:avLst/>
          </a:prstGeom>
        </p:spPr>
      </p:pic>
      <p:pic>
        <p:nvPicPr>
          <p:cNvPr id="5" name="Picture 4" descr="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680899"/>
            <a:ext cx="2377440" cy="558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03120"/>
            <a:ext cx="9418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3A491E"/>
                </a:solidFill>
                <a:latin typeface="Georgia"/>
              </a:rPr>
              <a:t>NetSentry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6324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22222"/>
                </a:solidFill>
                <a:latin typeface="Calibri"/>
              </a:rPr>
              <a:t>Développement d'un outil de découverte et de cartographie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22222"/>
                </a:solidFill>
                <a:latin typeface="Calibri"/>
              </a:rPr>
              <a:t>des équipements connectés au réseau informatique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2222"/>
                </a:solidFill>
                <a:latin typeface="Georgia"/>
              </a:rPr>
              <a:t>Marwane Amal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EMSI Tanger — 4IIR  ·  Stage de perfectionnement — Mövenpick Hôtel Tanger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23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1.  Contexte général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2.  Analyse des besoins et conception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3.  Architecture technique et technologies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4.  Mise en œuvre et captures d'écran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5.  Bilan et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Contexte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Stage de 2 mois au département Informatique (IT) du Mövenpick Hôtel Tanger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Le département gère le réseau interne ; les systèmes métiers (PMS)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sont confiés à un prestataire externe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Un réseau d'hôtel voit se connecter de nombreux équipements :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postes du personnel, imprimantes, caméras, bornes Wi-Fi, appareils invités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Aucun outil ne permettait de savoir, à un instant donné,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combien d'appareils sont actifs — ni de détecter une connexion inhabituelle</a:t>
            </a:r>
          </a:p>
        </p:txBody>
      </p:sp>
      <p:pic>
        <p:nvPicPr>
          <p:cNvPr id="7" name="Picture 6" descr="movenp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388412"/>
            <a:ext cx="4389120" cy="14410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Découvrir automatiquement les équipements connectés (IP, MAC, fabricant, ports)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Centraliser ces informations dans un tableau de bord consultable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Historiser les scans pour suivre l'apparition / disparition des équipements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Détecter et signaler tout équipement inconnu apparaissant sur le réseau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Automatiser l'exécution des scans (planification périodique)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Déployer la solution de façon conteneurisée (Docker)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Étude de l'existant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Nmap seul : puissant, mais aucun historique ni tableau de bord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Fing / Advanced IP Scanner : grand public, pas de persistance ni de planification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PRTG, Zabbix, Nagios : solutions professionnelles — coûteuses ou trop complexes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pour un simple inventaire d'équipements hôtelier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A491E"/>
                </a:solidFill>
                <a:latin typeface="Georgia"/>
              </a:rPr>
              <a:t>Conclusion de l'étude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22222"/>
                </a:solidFill>
                <a:latin typeface="Calibri"/>
              </a:rPr>
              <a:t>Aucune solution existante ne combine simplicité de déploiement, auto-hébergement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22222"/>
                </a:solidFill>
                <a:latin typeface="Calibri"/>
              </a:rPr>
              <a:t>et historique exploitable pour ce périmètre restreint — d'où le choix d'un développement sur mesure.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Exigences retenues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A491E"/>
                </a:solidFill>
                <a:latin typeface="Georgia"/>
              </a:rPr>
              <a:t>Fonctionnelles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Découverte + identification des équipements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Historique des détections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Tableau de bord temps réel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Détection d'anomalies + alertes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Planification des scans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Déploiement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A491E"/>
                </a:solidFill>
                <a:latin typeface="Georgia"/>
              </a:rPr>
              <a:t>Non fonctionnelles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Ergonomie pour personnel non spécialisé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Sécurité : authentification JWT, mots de passe hachés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Confidentialité : aucune donnée envoyée hors du réseau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Autonomie (scans planifiés)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Portabilité (Docker)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Maintenabilité (code versionné, structuré)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Diagramme de cas d'utilisation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93" y="1234440"/>
            <a:ext cx="3353012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55448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Un seul rôle : Administrateur IT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Toutes ses actions incluent «S'authentifier»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Un acteur système : le planificateur (cron)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Lancer un scan (manuel ou planifié) inclut «Détecter les appareils (Nmap)»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Diagramme de séquence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m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802" y="1234440"/>
            <a:ext cx="5513915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Modèle conceptuel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456" y="1280160"/>
            <a:ext cx="6108607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Architecture générale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731" y="1371600"/>
            <a:ext cx="731405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Nmap : le moteur de découverte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423851"/>
            <a:ext cx="2194560" cy="11756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8412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Scanner réseau open source (Gordon Lyon, 1997)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Phase 1 — Découverte : nmap -sn &lt;CIDR&gt;</a:t>
            </a:r>
            <a:br/>
            <a:r>
              <a:rPr sz="1550">
                <a:solidFill>
                  <a:srgbClr val="222222"/>
                </a:solidFill>
                <a:latin typeface="Calibri"/>
              </a:rPr>
              <a:t>ARP broadcast : rapide, fournit l'adresse MAC gratuitement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Phase 2 — Enrichissement : nmap -sV --top-ports 100</a:t>
            </a:r>
            <a:br/>
            <a:r>
              <a:rPr sz="1550">
                <a:solidFill>
                  <a:srgbClr val="222222"/>
                </a:solidFill>
                <a:latin typeface="Calibri"/>
              </a:rPr>
              <a:t>limité aux hôtes découverts (performance)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Identification du fabricant via une base OUI locale (aucune donnée envoyée à l'extérieur)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Adresses MAC aléatoires (iOS/Android) → fabricant "inconnu" par conception, pas par échec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nmap -O (détection d'OS) volontairement hors périmètre : privilèges supplémentaires, fiabilité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Technologies utilisées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dej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5422"/>
            <a:ext cx="1508760" cy="9241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Node.js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p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468732"/>
            <a:ext cx="1508760" cy="4574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0604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Express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stgr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470" y="2103120"/>
            <a:ext cx="1152698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628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PostgreSQL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893" y="2103120"/>
            <a:ext cx="1290333" cy="1188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4652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React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2525858"/>
            <a:ext cx="1508760" cy="343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6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8700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60" y="2382526"/>
            <a:ext cx="1508760" cy="6299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8700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Git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8912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Backend : Node.js / Express (API REST, orchestration, JWT)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Base de données : PostgreSQL (types MACADDR, INET, JSONB)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Frontend : React (tableau de bord, servi par Nginx)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Déploiement : Docker / Docker Compose  ·  Versionnage : Git / 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Planning prévisionnel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ntt_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33" y="1371600"/>
            <a:ext cx="8071452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Organisation du travail (Kanban)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280160"/>
            <a:ext cx="950976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Démonstration vidéo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28519" y="1325880"/>
            <a:ext cx="7534656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Calibri"/>
              </a:rPr>
              <a:t>Scan réel sur un réseau local de test (~1 min 40) : connexion, tableau de bord, scan manuel, détection d'un nouvel appareil, alertes.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Tableau de bord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801" y="1371600"/>
            <a:ext cx="9377916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Vue d'ensemble des appareils détectés, leur statut et déclenchement d'un scan manuel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Détail d'un appareil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vice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5924"/>
            <a:ext cx="11064240" cy="43719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Historique de détection et mise en liste blanche ("connu")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Alertes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184" y="1371600"/>
            <a:ext cx="921715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Appareils non reconnus signalés après un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Historique des scans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1452"/>
            <a:ext cx="11064240" cy="3280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Trace de chaque exécution, manuelle ou planifiée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Versionnage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thub_com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054" y="1371600"/>
            <a:ext cx="878541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5. BILAN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Bilan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Chaîne complète vérifiée de bout en bout : scan → backend → tableau de bord → déploiement conteneurisé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Compétences renforcées : réseau (ARP, MAC, ports), développement full-stack, sécurité (JWT), conteneurisation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Principale difficulté : périmètre limité aux systèmes réellement accessibles au département IT interne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Limite assumée : adresses MAC aléatoires → fabricant "inconnu" pour certains appareils, par conception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5. BILAN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Perspectives d'évolution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Notifications par e-mail en complément de l'alerte affichée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Classification par type d'appareil (fabricant + ports ouverts)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Historique Git plus granulaire au fil des prochaines itérations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Déploiement en production sur le serveur définitif de l'hôtel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" cy="685800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5400000">
            <a:off x="8351215" y="3931920"/>
            <a:ext cx="3840480" cy="2926080"/>
          </a:xfrm>
          <a:prstGeom prst="rtTriangle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3A491E"/>
                </a:solidFill>
                <a:latin typeface="Georgia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22222"/>
                </a:solidFill>
                <a:latin typeface="Calibri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035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NetSentry — Marwane Amal — EMSI Tanger 4IIR — Mövenpick Hôtel Tanger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