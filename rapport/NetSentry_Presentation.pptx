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8351215" y="3931920"/>
            <a:ext cx="3840480" cy="2926080"/>
          </a:xfrm>
          <a:prstGeom prst="rtTriangle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venp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48640"/>
            <a:ext cx="2506477" cy="822960"/>
          </a:xfrm>
          <a:prstGeom prst="rect">
            <a:avLst/>
          </a:prstGeom>
        </p:spPr>
      </p:pic>
      <p:pic>
        <p:nvPicPr>
          <p:cNvPr id="5" name="Picture 4" descr="em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680899"/>
            <a:ext cx="2377440" cy="558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103120"/>
            <a:ext cx="9418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3A491E"/>
                </a:solidFill>
                <a:latin typeface="Georgia"/>
              </a:rPr>
              <a:t>NetSentry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63240"/>
            <a:ext cx="9418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22222"/>
                </a:solidFill>
                <a:latin typeface="Calibri"/>
              </a:rPr>
              <a:t>Développement d'un outil de découverte et de cartographie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22222"/>
                </a:solidFill>
                <a:latin typeface="Calibri"/>
              </a:rPr>
              <a:t>des équipements connectés au réseau informatique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2222"/>
                </a:solidFill>
                <a:latin typeface="Georgia"/>
              </a:rPr>
              <a:t>Marwane 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578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EMSI Tanger — 4IIR  ·  Stage de perfectionnement — Mövenpick Hôtel Tanger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235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1.  Contexte et problématique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2.  Objectifs du projet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3.  Étude de l'existant et méthodologie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4.  Analyse et conception (UML)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5.  Architecture technique et technologies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6.  Nmap : le moteur de découverte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7.  Planning et organisation du travail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8.  Démonstration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9.  Bilan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1. CONTEXTE ET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Contexte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Stage de 2 mois au département Informatique (IT) du Mövenpick Hôtel Tanger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Le département gère le réseau interne ; les systèmes métiers (PMS)</a:t>
            </a:r>
            <a:br/>
            <a:r>
              <a:rPr sz="1700">
                <a:solidFill>
                  <a:srgbClr val="222222"/>
                </a:solidFill>
                <a:latin typeface="Calibri"/>
              </a:rPr>
              <a:t>sont confiés à un prestataire externe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Un réseau d'hôtel voit se connecter de nombreux équipements :</a:t>
            </a:r>
            <a:br/>
            <a:r>
              <a:rPr sz="1700">
                <a:solidFill>
                  <a:srgbClr val="222222"/>
                </a:solidFill>
                <a:latin typeface="Calibri"/>
              </a:rPr>
              <a:t>postes du personnel, imprimantes, caméras, bornes Wi-Fi, appareils invités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Aucun outil ne permettait de savoir, à un instant donné,</a:t>
            </a:r>
            <a:br/>
            <a:r>
              <a:rPr sz="1700">
                <a:solidFill>
                  <a:srgbClr val="222222"/>
                </a:solidFill>
                <a:latin typeface="Calibri"/>
              </a:rPr>
              <a:t>combien d'appareils sont actifs — ni de détecter une connexion inhabituelle</a:t>
            </a:r>
          </a:p>
        </p:txBody>
      </p:sp>
      <p:pic>
        <p:nvPicPr>
          <p:cNvPr id="7" name="Picture 6" descr="movenp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388412"/>
            <a:ext cx="4389120" cy="14410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2.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Objectifs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Découvrir automatiquement les équipements connectés (IP, MAC, fabricant, ports)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Centraliser ces informations dans un tableau de bord consultable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Historiser les scans pour suivre l'apparition / disparition des équipements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Détecter et signaler tout équipement inconnu apparaissant sur le réseau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Automatiser l'exécution des scans (planification périodique)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Déployer la solution de façon conteneurisée (Docker)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3. ÉTUDE DE L'EXISTANT ET MÉTHODOLOGIE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Étude de l'existant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Nmap seul : puissant, mais aucun historique ni tableau de bord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Fing / Advanced IP Scanner : grand public, pas de persistance ni de planification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PRTG, Zabbix, Nagios : solutions professionnelles — coûteuses ou trop complexes</a:t>
            </a:r>
            <a:br/>
            <a:r>
              <a:rPr sz="1700">
                <a:solidFill>
                  <a:srgbClr val="222222"/>
                </a:solidFill>
                <a:latin typeface="Calibri"/>
              </a:rPr>
              <a:t>pour un simple inventaire d'équipements hôtelier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solidFill>
            <a:srgbClr val="EF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A491E"/>
                </a:solidFill>
                <a:latin typeface="Georgia"/>
              </a:rPr>
              <a:t>Conclusion de l'étude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Aucune solution existante ne combine simplicité de déploiement, auto-hébergement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et historique exploitable pour ce périmètre restreint — d'où le choix d'un développement sur mesure.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3. ÉTUDE DE L'EXISTANT ET MÉTHODOLOGIE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Exigences retenues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A491E"/>
                </a:solidFill>
                <a:latin typeface="Georgia"/>
              </a:rPr>
              <a:t>Fonctionnelles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Découverte + identification des équipements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Historique des détections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Tableau de bord temps réel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Détection d'anomalies + alertes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Planification des scans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Déploiement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A491E"/>
                </a:solidFill>
                <a:latin typeface="Georgia"/>
              </a:rPr>
              <a:t>Non fonctionnelles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Ergonomie pour personnel non spécialisé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Sécurité : authentification JWT, mots de passe hachés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Confidentialité : aucune donnée envoyée hors du réseau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Autonomie (scans planifiés)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Portabilité (Docker)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Maintenabilité (code versionné, structuré)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5. ARCHITECTURE TECHNIQUE ET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Architecture générale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731" y="1371600"/>
            <a:ext cx="7314057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4. ANALYSE ET CONCEPTION (UML)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Diagramme de cas d'utilisation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93" y="1234440"/>
            <a:ext cx="3353012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55448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50">
                <a:solidFill>
                  <a:srgbClr val="222222"/>
                </a:solidFill>
                <a:latin typeface="Calibri"/>
              </a:rPr>
              <a:t>•  Un seul rôle : Administrateur IT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50">
                <a:solidFill>
                  <a:srgbClr val="222222"/>
                </a:solidFill>
                <a:latin typeface="Calibri"/>
              </a:rPr>
              <a:t>•  Toutes ses actions incluent «S'authentifier»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50">
                <a:solidFill>
                  <a:srgbClr val="222222"/>
                </a:solidFill>
                <a:latin typeface="Calibri"/>
              </a:rPr>
              <a:t>•  Un acteur système : le planificateur (cron)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50">
                <a:solidFill>
                  <a:srgbClr val="222222"/>
                </a:solidFill>
                <a:latin typeface="Calibri"/>
              </a:rPr>
              <a:t>•  Lancer un scan (manuel ou planifié) inclut «Détecter les appareils (Nmap)»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4. ANALYSE ET CONCEPTION (UML)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Modèle conceptuel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456" y="1280160"/>
            <a:ext cx="6108607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6. NMAP : LE MOTEUR DE DÉCOUVERTE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Nmap : le moteur de découverte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423851"/>
            <a:ext cx="2194560" cy="11756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6304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Scanner réseau open source (Gordon Lyon, 1997)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Phase 1 — Découverte : nmap -sn &lt;CIDR&gt;</a:t>
            </a:r>
            <a:br/>
            <a:r>
              <a:rPr sz="1550">
                <a:solidFill>
                  <a:srgbClr val="222222"/>
                </a:solidFill>
                <a:latin typeface="Calibri"/>
              </a:rPr>
              <a:t>ARP broadcast : rapide, fournit l'adresse MAC gratuitement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Phase 2 — Enrichissement : nmap -sV --top-ports 100</a:t>
            </a:r>
            <a:br/>
            <a:r>
              <a:rPr sz="1550">
                <a:solidFill>
                  <a:srgbClr val="222222"/>
                </a:solidFill>
                <a:latin typeface="Calibri"/>
              </a:rPr>
              <a:t>limité aux hôtes découverts (performance)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Identification du fabricant via une base OUI locale (aucune donnée envoyée à l'extérieur)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Adresses MAC aléatoires (iOS/Android) → fabricant "inconnu" par conception, pas par échec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nmap -O (détection d'OS) volontairement hors périmètre : privilèges supplémentaires, fiabilité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5. ARCHITECTURE TECHNIQUE ET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Technologies utilisées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1783080" cy="2011680"/>
          </a:xfrm>
          <a:prstGeom prst="rect">
            <a:avLst/>
          </a:prstGeom>
          <a:solidFill>
            <a:srgbClr val="EF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dej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35422"/>
            <a:ext cx="1508760" cy="924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4290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A491E"/>
                </a:solidFill>
                <a:latin typeface="Calibri"/>
              </a:rPr>
              <a:t>Node.js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920240"/>
            <a:ext cx="1783080" cy="2011680"/>
          </a:xfrm>
          <a:prstGeom prst="rect">
            <a:avLst/>
          </a:prstGeom>
          <a:solidFill>
            <a:srgbClr val="EF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p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468732"/>
            <a:ext cx="1508760" cy="4574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06040" y="34290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A491E"/>
                </a:solidFill>
                <a:latin typeface="Calibri"/>
              </a:rPr>
              <a:t>Express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920240"/>
            <a:ext cx="1783080" cy="2011680"/>
          </a:xfrm>
          <a:prstGeom prst="rect">
            <a:avLst/>
          </a:prstGeom>
          <a:solidFill>
            <a:srgbClr val="EF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470" y="2103120"/>
            <a:ext cx="1152698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6280" y="34290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A491E"/>
                </a:solidFill>
                <a:latin typeface="Calibri"/>
              </a:rPr>
              <a:t>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920240"/>
            <a:ext cx="1783080" cy="2011680"/>
          </a:xfrm>
          <a:prstGeom prst="rect">
            <a:avLst/>
          </a:prstGeom>
          <a:solidFill>
            <a:srgbClr val="EF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893" y="2103120"/>
            <a:ext cx="1290333" cy="1188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46520" y="34290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A491E"/>
                </a:solidFill>
                <a:latin typeface="Calibri"/>
              </a:rPr>
              <a:t>React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1920240"/>
            <a:ext cx="1783080" cy="2011680"/>
          </a:xfrm>
          <a:prstGeom prst="rect">
            <a:avLst/>
          </a:prstGeom>
          <a:solidFill>
            <a:srgbClr val="EF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525858"/>
            <a:ext cx="1508760" cy="34324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66760" y="34290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A491E"/>
                </a:solidFill>
                <a:latin typeface="Calibri"/>
              </a:rPr>
              <a:t>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7000" y="1920240"/>
            <a:ext cx="1783080" cy="2011680"/>
          </a:xfrm>
          <a:prstGeom prst="rect">
            <a:avLst/>
          </a:prstGeom>
          <a:solidFill>
            <a:srgbClr val="EF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2382526"/>
            <a:ext cx="1508760" cy="6299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87000" y="34290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A491E"/>
                </a:solidFill>
                <a:latin typeface="Calibri"/>
              </a:rPr>
              <a:t>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891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Calibri"/>
              </a:rPr>
              <a:t>•  Backend : Node.js / Express (API REST, orchestration, JWT)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Calibri"/>
              </a:rPr>
              <a:t>•  Base de données : PostgreSQL (types MACADDR, INET, JSONB)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Calibri"/>
              </a:rPr>
              <a:t>•  Frontend : React (tableau de bord, servi par Nginx)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Calibri"/>
              </a:rPr>
              <a:t>•  Déploiement : Docker / Docker Compose  ·  Versionnage : Git /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7. PLANNING ET ORGANISATION DU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Planning prévisionnel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ntt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033" y="1371600"/>
            <a:ext cx="8071452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7. PLANNING ET ORGANISATION DU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Organisation du travail (Kanban)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280160"/>
            <a:ext cx="95097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8. 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Démonstration — Tableau de bord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01" y="1371600"/>
            <a:ext cx="9377916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5A5A"/>
                </a:solidFill>
                <a:latin typeface="Calibri"/>
              </a:rPr>
              <a:t>Vue d'ensemble des appareils détectés, leur statut et déclenchement d'un scan manuel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8. 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Démonstration — Détail d'un appareil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vic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5924"/>
            <a:ext cx="11064240" cy="43719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5A5A"/>
                </a:solidFill>
                <a:latin typeface="Calibri"/>
              </a:rPr>
              <a:t>Historique de détection et mise en liste blanche ("connu")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8. 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Démonstration — Alertes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1371600"/>
            <a:ext cx="921715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5A5A"/>
                </a:solidFill>
                <a:latin typeface="Calibri"/>
              </a:rPr>
              <a:t>Appareils non reconnus signalés après un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8. 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Démonstration — Historique des scans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1452"/>
            <a:ext cx="11064240" cy="3280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5A5A"/>
                </a:solidFill>
                <a:latin typeface="Calibri"/>
              </a:rPr>
              <a:t>Trace de chaque exécution, manuelle ou planifiée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8. 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Versionnage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ithub_com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054" y="1371600"/>
            <a:ext cx="8785411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9. BILAN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Bilan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50">
                <a:solidFill>
                  <a:srgbClr val="222222"/>
                </a:solidFill>
                <a:latin typeface="Calibri"/>
              </a:rPr>
              <a:t>•  Chaîne complète vérifiée de bout en bout : scan → backend → tableau de bord → déploiement conteneurisé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50">
                <a:solidFill>
                  <a:srgbClr val="222222"/>
                </a:solidFill>
                <a:latin typeface="Calibri"/>
              </a:rPr>
              <a:t>•  Compétences renforcées : réseau (ARP, MAC, ports), développement full-stack, sécurité (JWT), conteneurisation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50">
                <a:solidFill>
                  <a:srgbClr val="222222"/>
                </a:solidFill>
                <a:latin typeface="Calibri"/>
              </a:rPr>
              <a:t>•  Principale difficulté : périmètre limité aux systèmes réellement accessibles au département IT interne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50">
                <a:solidFill>
                  <a:srgbClr val="222222"/>
                </a:solidFill>
                <a:latin typeface="Calibri"/>
              </a:rPr>
              <a:t>•  Limite assumée : adresses MAC aléatoires → fabricant "inconnu" pour certains appareils, par conception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F3E9"/>
                </a:solidFill>
                <a:latin typeface="Calibri"/>
              </a:rPr>
              <a:t>9. BILAN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Perspectives d'évolution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Notifications par e-mail en complément de l'alerte affichée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Classification par type d'appareil (fabricant + ports ouverts)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Historique Git plus granulaire au fil des prochaines itérations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Déploiement en production sur le serveur définitif de l'hôtel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NetSentry — Découverte et cartographie des équipements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8351215" y="3931920"/>
            <a:ext cx="3840480" cy="2926080"/>
          </a:xfrm>
          <a:prstGeom prst="rtTriangle">
            <a:avLst/>
          </a:prstGeom>
          <a:solidFill>
            <a:srgbClr val="4F6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3A491E"/>
                </a:solidFill>
                <a:latin typeface="Georgia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22222"/>
                </a:solidFill>
                <a:latin typeface="Calibri"/>
              </a:rP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035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Calibri"/>
              </a:rPr>
              <a:t>NetSentry — Marwane Amal — EMSI Tanger 4IIR — Mövenpick Hôtel Tanger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