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" cy="685800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5400000">
            <a:off x="8351215" y="3931920"/>
            <a:ext cx="3840480" cy="2926080"/>
          </a:xfrm>
          <a:prstGeom prst="rtTriangle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venp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548640"/>
            <a:ext cx="2506477" cy="822960"/>
          </a:xfrm>
          <a:prstGeom prst="rect">
            <a:avLst/>
          </a:prstGeom>
        </p:spPr>
      </p:pic>
      <p:pic>
        <p:nvPicPr>
          <p:cNvPr id="5" name="Picture 4" descr="ems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560" y="680899"/>
            <a:ext cx="2377440" cy="558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2103120"/>
            <a:ext cx="941832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400" b="1" i="0">
                <a:solidFill>
                  <a:srgbClr val="3A491E"/>
                </a:solidFill>
                <a:latin typeface="Georgia"/>
              </a:rPr>
              <a:t>NetSentry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063240"/>
            <a:ext cx="941832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22222"/>
                </a:solidFill>
                <a:latin typeface="Calibri"/>
              </a:rPr>
              <a:t>Développement d'un outil de découverte et de cartographie</a:t>
            </a:r>
          </a:p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222222"/>
                </a:solidFill>
                <a:latin typeface="Calibri"/>
              </a:rPr>
              <a:t>des équipements connectés au réseau informatique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84632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222222"/>
                </a:solidFill>
                <a:latin typeface="Georgia"/>
              </a:rPr>
              <a:t>Marwane Amal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257800"/>
            <a:ext cx="7315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EMSI Tanger — 4IIR  ·  Stage de perfectionnement — Mövenpick Hôtel Tanger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623560"/>
            <a:ext cx="7315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A5A5A"/>
                </a:solidFill>
                <a:latin typeface="Calibri"/>
              </a:rPr>
              <a:t>Septembre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5603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Sommaire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9144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2600"/>
              </a:spcAft>
            </a:pPr>
            <a:r>
              <a:rPr sz="2400">
                <a:solidFill>
                  <a:srgbClr val="222222"/>
                </a:solidFill>
                <a:latin typeface="Calibri"/>
              </a:rPr>
              <a:t>•  1.  Contexte général</a:t>
            </a:r>
          </a:p>
          <a:p>
            <a:pPr>
              <a:lnSpc>
                <a:spcPct val="108000"/>
              </a:lnSpc>
              <a:spcAft>
                <a:spcPts val="2600"/>
              </a:spcAft>
            </a:pPr>
            <a:r>
              <a:rPr sz="2400">
                <a:solidFill>
                  <a:srgbClr val="222222"/>
                </a:solidFill>
                <a:latin typeface="Calibri"/>
              </a:rPr>
              <a:t>•  2.  Analyse des besoins et conception</a:t>
            </a:r>
          </a:p>
          <a:p>
            <a:pPr>
              <a:lnSpc>
                <a:spcPct val="108000"/>
              </a:lnSpc>
              <a:spcAft>
                <a:spcPts val="2600"/>
              </a:spcAft>
            </a:pPr>
            <a:r>
              <a:rPr sz="2400">
                <a:solidFill>
                  <a:srgbClr val="222222"/>
                </a:solidFill>
                <a:latin typeface="Calibri"/>
              </a:rPr>
              <a:t>•  3.  Architecture technique et technologies</a:t>
            </a:r>
          </a:p>
          <a:p>
            <a:pPr>
              <a:lnSpc>
                <a:spcPct val="108000"/>
              </a:lnSpc>
              <a:spcAft>
                <a:spcPts val="2600"/>
              </a:spcAft>
            </a:pPr>
            <a:r>
              <a:rPr sz="2400">
                <a:solidFill>
                  <a:srgbClr val="222222"/>
                </a:solidFill>
                <a:latin typeface="Calibri"/>
              </a:rPr>
              <a:t>•  4.  Mise en œuvre et captures d'écran</a:t>
            </a:r>
          </a:p>
          <a:p>
            <a:pPr>
              <a:lnSpc>
                <a:spcPct val="108000"/>
              </a:lnSpc>
              <a:spcAft>
                <a:spcPts val="2600"/>
              </a:spcAft>
            </a:pPr>
            <a:r>
              <a:rPr sz="2400">
                <a:solidFill>
                  <a:srgbClr val="222222"/>
                </a:solidFill>
                <a:latin typeface="Calibri"/>
              </a:rPr>
              <a:t>•  5.  Bilan et perspectives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1. CONTEXTE GÉNÉRAL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Contexte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59436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Stage de 2 mois au département Informatique (IT) du Mövenpick Hôtel Tanger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Le département gère le réseau interne ; les systèmes métiers (PMS)</a:t>
            </a:r>
            <a:br/>
            <a:r>
              <a:rPr sz="1700">
                <a:solidFill>
                  <a:srgbClr val="222222"/>
                </a:solidFill>
                <a:latin typeface="Calibri"/>
              </a:rPr>
              <a:t>sont confiés à un prestataire externe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Un réseau d'hôtel voit se connecter de nombreux équipements :</a:t>
            </a:r>
            <a:br/>
            <a:r>
              <a:rPr sz="1700">
                <a:solidFill>
                  <a:srgbClr val="222222"/>
                </a:solidFill>
                <a:latin typeface="Calibri"/>
              </a:rPr>
              <a:t>postes du personnel, imprimantes, caméras, bornes Wi-Fi, appareils invités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Aucun outil ne permettait de savoir, à un instant donné,</a:t>
            </a:r>
            <a:br/>
            <a:r>
              <a:rPr sz="1700">
                <a:solidFill>
                  <a:srgbClr val="222222"/>
                </a:solidFill>
                <a:latin typeface="Calibri"/>
              </a:rPr>
              <a:t>combien d'appareils sont actifs — ni de détecter une connexion inhabituelle</a:t>
            </a:r>
          </a:p>
        </p:txBody>
      </p:sp>
      <p:pic>
        <p:nvPicPr>
          <p:cNvPr id="7" name="Picture 6" descr="movenpi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388412"/>
            <a:ext cx="4389120" cy="144109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1. CONTEXTE GÉNÉRAL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Objectifs du projet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Découvrir automatiquement les équipements connectés (IP, MAC, fabricant, ports)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Centraliser ces informations dans un tableau de bord consultable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Historiser les scans pour suivre l'apparition / disparition des équipements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Détecter et signaler tout équipement inconnu apparaissant sur le réseau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Automatiser l'exécution des scans (planification périodique)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Déployer la solution de façon conteneurisée (Docker)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1. CONTEXTE GÉNÉRAL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Étude de l'existant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106424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Nmap seul : puissant, mais aucun historique ni tableau de bord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Fing / Advanced IP Scanner : grand public, pas de persistance ni de planification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700">
                <a:solidFill>
                  <a:srgbClr val="222222"/>
                </a:solidFill>
                <a:latin typeface="Calibri"/>
              </a:rPr>
              <a:t>•  PRTG, Zabbix, Nagios : solutions professionnelles — coûteuses ou trop complexes</a:t>
            </a:r>
            <a:br/>
            <a:r>
              <a:rPr sz="1700">
                <a:solidFill>
                  <a:srgbClr val="222222"/>
                </a:solidFill>
                <a:latin typeface="Calibri"/>
              </a:rPr>
              <a:t>pour un simple inventaire d'équipements hôtelier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31920"/>
            <a:ext cx="11064240" cy="219456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 i="0">
                <a:solidFill>
                  <a:srgbClr val="3A491E"/>
                </a:solidFill>
                <a:latin typeface="Georgia"/>
              </a:rPr>
              <a:t>Conclusion de l'étude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572000"/>
            <a:ext cx="1033272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22222"/>
                </a:solidFill>
                <a:latin typeface="Calibri"/>
              </a:rPr>
              <a:t>Aucune solution existante ne combine simplicité de déploiement, auto-hébergement</a:t>
            </a:r>
          </a:p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222222"/>
                </a:solidFill>
                <a:latin typeface="Calibri"/>
              </a:rPr>
              <a:t>et historique exploitable pour ce périmètre restreint — d'où le choix d'un développement sur mesure.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2. ANALYSE DES BESOINS ET 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Exigences retenues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3A491E"/>
                </a:solidFill>
                <a:latin typeface="Georgia"/>
              </a:rPr>
              <a:t>Fonctionnelles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Découverte + identification des équipements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Historique des détections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Tableau de bord temps réel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Détection d'anomalies + alertes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Planification des scans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Déploiement Docker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3A491E"/>
                </a:solidFill>
                <a:latin typeface="Georgia"/>
              </a:rPr>
              <a:t>Non fonctionnelles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Ergonomie pour personnel non spécialisé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Sécurité : authentification JWT, mots de passe hachés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Confidentialité : aucune donnée envoyée hors du réseau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Autonomie (scans planifiés)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Portabilité (Docker)</a:t>
            </a:r>
          </a:p>
          <a:p>
            <a:pPr>
              <a:lnSpc>
                <a:spcPct val="108000"/>
              </a:lnSpc>
              <a:spcAft>
                <a:spcPts val="13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Maintenabilité (code versionné, structuré)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2. ANALYSE DES BESOINS ET 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Diagramme de cas d'utilisation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7093" y="1234440"/>
            <a:ext cx="3353012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1554480"/>
            <a:ext cx="30175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Un seul rôle : Administrateur IT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Toutes ses actions incluent «S'authentifier»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Un acteur système : le planificateur (cron)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Lancer un scan (manuel ou planifié) inclut «Détecter les appareils (Nmap)»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2. ANALYSE DES BESOINS ET 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Diagramme de séquence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iagramm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3802" y="1234440"/>
            <a:ext cx="5513915" cy="5394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2. ANALYSE DES BESOINS ET CONCEPTION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Modèle conceptuel de données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6456" y="1280160"/>
            <a:ext cx="6108607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3. ARCHITECTURE TECHNIQUE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Architecture générale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731" y="1371600"/>
            <a:ext cx="7314057" cy="49377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3. ARCHITECTURE TECHNIQUE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Nmap : le moteur de découverte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1423851"/>
            <a:ext cx="2194560" cy="117565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463040"/>
            <a:ext cx="8412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Scanner réseau open source (Gordon Lyon, 1997)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Phase 1 — Découverte : nmap -sn &lt;CIDR&gt;</a:t>
            </a:r>
            <a:br/>
            <a:r>
              <a:rPr sz="1550">
                <a:solidFill>
                  <a:srgbClr val="222222"/>
                </a:solidFill>
                <a:latin typeface="Calibri"/>
              </a:rPr>
              <a:t>ARP broadcast : rapide, fournit l'adresse MAC gratuitement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Phase 2 — Enrichissement : nmap -sV --top-ports 100</a:t>
            </a:r>
            <a:br/>
            <a:r>
              <a:rPr sz="1550">
                <a:solidFill>
                  <a:srgbClr val="222222"/>
                </a:solidFill>
                <a:latin typeface="Calibri"/>
              </a:rPr>
              <a:t>limité aux hôtes découverts (performance)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Identification du fabricant via une base OUI locale (aucune donnée envoyée à l'extérieur)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Adresses MAC aléatoires (iOS/Android) → fabricant "inconnu" par conception, pas par échec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222222"/>
                </a:solidFill>
                <a:latin typeface="Calibri"/>
              </a:rPr>
              <a:t>•  nmap -O (détection d'OS) volontairement hors périmètre : privilèges supplémentaires, fiabilité variable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3. ARCHITECTURE TECHNIQUE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Technologies utilisées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nodej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35422"/>
            <a:ext cx="1508760" cy="9241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Node.js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604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xpre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468732"/>
            <a:ext cx="1508760" cy="4574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60604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Express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2628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ostgresq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1470" y="2103120"/>
            <a:ext cx="1152698" cy="11887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2628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PostgreSQL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a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92893" y="2103120"/>
            <a:ext cx="1290333" cy="11887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4652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React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6676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ock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3920" y="2525858"/>
            <a:ext cx="1508760" cy="343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36676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287000" y="1920240"/>
            <a:ext cx="1783080" cy="2011680"/>
          </a:xfrm>
          <a:prstGeom prst="rect">
            <a:avLst/>
          </a:prstGeom>
          <a:solidFill>
            <a:srgbClr val="EF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g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24160" y="2382526"/>
            <a:ext cx="1508760" cy="629907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287000" y="3429000"/>
            <a:ext cx="1783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3A491E"/>
                </a:solidFill>
                <a:latin typeface="Calibri"/>
              </a:rPr>
              <a:t>Git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38912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Backend : Node.js / Express (API REST, orchestration, JWT)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Base de données : PostgreSQL (types MACADDR, INET, JSONB)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Frontend : React (tableau de bord, servi par Nginx)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450">
                <a:solidFill>
                  <a:srgbClr val="222222"/>
                </a:solidFill>
                <a:latin typeface="Calibri"/>
              </a:rPr>
              <a:t>•  Déploiement : Docker / Docker Compose  ·  Versionnage : Git / 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3. ARCHITECTURE TECHNIQUE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Planning prévisionnel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antt_pla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033" y="1371600"/>
            <a:ext cx="8071452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3. ARCHITECTURE TECHNIQUE ET TECHNOLOGIES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Organisation du travail (Kanban)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kanb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1280160"/>
            <a:ext cx="9509760" cy="5120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Démonstration — Tableau de bord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1801" y="1371600"/>
            <a:ext cx="9377916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Vue d'ensemble des appareils détectés, leur statut et déclenchement d'un scan manuel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Démonstration — Détail d'un appareil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evice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25924"/>
            <a:ext cx="11064240" cy="43719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Historique de détection et mise en liste blanche ("connu")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Démonstration — Alertes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2184" y="1371600"/>
            <a:ext cx="9217152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Appareils non reconnus signalés après un scan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Démonstration — Historique des scans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71452"/>
            <a:ext cx="11064240" cy="328085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1">
                <a:solidFill>
                  <a:srgbClr val="5A5A5A"/>
                </a:solidFill>
                <a:latin typeface="Calibri"/>
              </a:rPr>
              <a:t>Trace de chaque exécution, manuelle ou planifiée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4. MISE EN ŒUVRE ET CAPTURES D'ÉCRAN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Versionnage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github_comm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8054" y="1371600"/>
            <a:ext cx="8785411" cy="4480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5. BILAN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Bilan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50">
                <a:solidFill>
                  <a:srgbClr val="222222"/>
                </a:solidFill>
                <a:latin typeface="Calibri"/>
              </a:rPr>
              <a:t>•  Chaîne complète vérifiée de bout en bout : scan → backend → tableau de bord → déploiement conteneurisé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50">
                <a:solidFill>
                  <a:srgbClr val="222222"/>
                </a:solidFill>
                <a:latin typeface="Calibri"/>
              </a:rPr>
              <a:t>•  Compétences renforcées : réseau (ARP, MAC, ports), développement full-stack, sécurité (JWT), conteneurisation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50">
                <a:solidFill>
                  <a:srgbClr val="222222"/>
                </a:solidFill>
                <a:latin typeface="Calibri"/>
              </a:rPr>
              <a:t>•  Principale difficulté : périmètre limité aux systèmes réellement accessibles au département IT interne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50">
                <a:solidFill>
                  <a:srgbClr val="222222"/>
                </a:solidFill>
                <a:latin typeface="Calibri"/>
              </a:rPr>
              <a:t>•  Limite assumée : adresses MAC aléatoires → fabricant "inconnu" pour certains appareils, par conception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73152"/>
            <a:ext cx="9144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EFF3E9"/>
                </a:solidFill>
                <a:latin typeface="Calibri"/>
              </a:rPr>
              <a:t>5. BILAN ET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Georgia"/>
              </a:rPr>
              <a:t>Perspectives d'évolution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051560"/>
            <a:ext cx="12191695" cy="38100"/>
          </a:xfrm>
          <a:prstGeom prst="rect">
            <a:avLst/>
          </a:prstGeom>
          <a:solidFill>
            <a:srgbClr val="2F6E6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10789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Notifications par e-mail en complément de l'alerte affichée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Classification par type d'appareil (fabricant + ports ouverts)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Historique Git plus granulaire au fil des prochaines itérations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222222"/>
                </a:solidFill>
                <a:latin typeface="Calibri"/>
              </a:rPr>
              <a:t>•  Déploiement en production sur le serveur définitif de l'hôtel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NetSentry — Découverte et cartographie des équipements réseau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473952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5A5A5A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" cy="6858000"/>
          </a:xfrm>
          <a:prstGeom prst="rect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 rot="5400000">
            <a:off x="8351215" y="3931920"/>
            <a:ext cx="3840480" cy="2926080"/>
          </a:xfrm>
          <a:prstGeom prst="rtTriangle">
            <a:avLst/>
          </a:prstGeom>
          <a:solidFill>
            <a:srgbClr val="4F62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3A491E"/>
                </a:solidFill>
                <a:latin typeface="Georgia"/>
              </a:rPr>
              <a:t>Merci de votre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144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 i="0">
                <a:solidFill>
                  <a:srgbClr val="222222"/>
                </a:solidFill>
                <a:latin typeface="Calibri"/>
              </a:rPr>
              <a:t>Questions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603504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5A5A5A"/>
                </a:solidFill>
                <a:latin typeface="Calibri"/>
              </a:rPr>
              <a:t>NetSentry — Marwane Amal — EMSI Tanger 4IIR — Mövenpick Hôtel Tanger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